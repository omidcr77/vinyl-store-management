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5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713232"/>
            <a:ext cx="100584" cy="502920"/>
          </a:xfrm>
          <a:prstGeom prst="roundRect">
            <a:avLst>
              <a:gd name="adj" fmla="val 10000"/>
            </a:avLst>
          </a:prstGeom>
          <a:solidFill>
            <a:srgbClr val="D9A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100" b="1">
                <a:solidFill>
                  <a:srgbClr val="D7E6DC"/>
                </a:solidFill>
                <a:latin typeface="Tahoma"/>
              </a:defRPr>
            </a:pPr>
            <a:r>
              <a:t>راه ساده‌تر برای مدیریت دکان شما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435608"/>
            <a:ext cx="493776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3500" b="1">
                <a:solidFill>
                  <a:srgbClr val="FFFFFF"/>
                </a:solidFill>
                <a:latin typeface="Tahoma"/>
              </a:defRPr>
            </a:pPr>
            <a:r>
              <a:t>هر رول،</a:t>
            </a:r>
          </a:p>
          <a:p>
            <a:pPr algn="r" rtl="1">
              <a:spcAft>
                <a:spcPts val="200"/>
              </a:spcAft>
              <a:defRPr sz="3500" b="1">
                <a:solidFill>
                  <a:srgbClr val="FFFFFF"/>
                </a:solidFill>
                <a:latin typeface="Tahoma"/>
              </a:defRPr>
            </a:pPr>
            <a:r>
              <a:t>هر فروش،</a:t>
            </a:r>
          </a:p>
          <a:p>
            <a:pPr algn="r" rtl="1">
              <a:spcAft>
                <a:spcPts val="200"/>
              </a:spcAft>
              <a:defRPr sz="3500" b="1">
                <a:solidFill>
                  <a:srgbClr val="FFFFFF"/>
                </a:solidFill>
                <a:latin typeface="Tahoma"/>
              </a:defRPr>
            </a:pPr>
            <a:r>
              <a:t>همه در یک‌جا.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450799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800" b="1">
                <a:solidFill>
                  <a:srgbClr val="DDE9DF"/>
                </a:solidFill>
                <a:latin typeface="Tahoma"/>
              </a:defRPr>
            </a:pPr>
            <a:r>
              <a:t>سیستم مدیریت دکان قالین و وینیل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02005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200" b="0">
                <a:solidFill>
                  <a:srgbClr val="B7CCBE"/>
                </a:solidFill>
                <a:latin typeface="Tahoma"/>
              </a:defRPr>
            </a:pPr>
            <a:r>
              <a:t>موجودی • فروشات • حساب مشتریان • تهیه‌کنندگان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5584" y="1243584"/>
            <a:ext cx="5742432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61888" y="1353312"/>
            <a:ext cx="5449824" cy="394106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7" y="1495043"/>
            <a:ext cx="5266944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9808" y="6254496"/>
            <a:ext cx="23774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A8C1B1"/>
                </a:solidFill>
                <a:latin typeface="Tahoma"/>
              </a:defRPr>
            </a:pPr>
            <a:r>
              <a:t>تصویر از محیط برنامه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254496"/>
            <a:ext cx="685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A8C1B1"/>
                </a:solidFill>
                <a:latin typeface="Tahoma"/>
              </a:defRPr>
            </a:pPr>
            <a: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900" b="1">
                <a:solidFill>
                  <a:srgbClr val="1F5948"/>
                </a:solidFill>
                <a:latin typeface="Tahoma"/>
              </a:defRPr>
            </a:pPr>
            <a:r>
              <a:t>01  /  موجودی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48920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2500" b="1">
                <a:solidFill>
                  <a:srgbClr val="18352D"/>
                </a:solidFill>
                <a:latin typeface="Tahoma"/>
              </a:defRPr>
            </a:pPr>
            <a:r>
              <a:t>از موجودی دکان‌تان دقیق باخبر باشید.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27632"/>
            <a:ext cx="468172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200" b="0">
                <a:solidFill>
                  <a:srgbClr val="66766F"/>
                </a:solidFill>
                <a:latin typeface="Tahoma"/>
              </a:defRPr>
            </a:pPr>
            <a:r>
              <a:t>هر رول را جداگانه ثبت کنید و طول باقی‌ماندهٔ آن را بدانید.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87168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496312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468880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رسیدن اجناس را یک‌جا ثبت کنید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798064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تهیه‌کننده، رنگ، اندازه و مصارف هر محموله را وارد کنید.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11296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520440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493008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هر رول را جداگانه نگه دارید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822192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برای هر رول یک ثبت جدا و طول باقی‌ماندهٔ آن را داشته باشید.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35424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544568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517136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کمبود موجودی را زود ببینید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846320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موجودی آمادهٔ فروش و رول‌های کم‌موجود را از داشبورد بررسی کنید.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678424"/>
            <a:ext cx="4526280" cy="429768"/>
          </a:xfrm>
          <a:prstGeom prst="roundRect">
            <a:avLst>
              <a:gd name="adj" fmla="val 10000"/>
            </a:avLst>
          </a:prstGeom>
          <a:solidFill>
            <a:srgbClr val="1F5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15000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000" b="1">
                <a:solidFill>
                  <a:srgbClr val="FFFFFF"/>
                </a:solidFill>
                <a:latin typeface="Tahoma"/>
              </a:defRPr>
            </a:pPr>
            <a:r>
              <a:t>موجودی دقیق‌تر، غافلگیری کمتر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005840"/>
            <a:ext cx="5916168" cy="4553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0" y="1143000"/>
            <a:ext cx="5586984" cy="4151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n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42262"/>
            <a:ext cx="5404104" cy="3752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97296" y="5669280"/>
            <a:ext cx="543153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0">
                <a:solidFill>
                  <a:srgbClr val="66766F"/>
                </a:solidFill>
                <a:latin typeface="Tahoma"/>
              </a:defRPr>
            </a:pPr>
            <a:r>
              <a:t>بررسی محموله • هر رول به‌صورت جداگانه ثبت می‌شود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47104"/>
            <a:ext cx="50292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66766F"/>
                </a:solidFill>
                <a:latin typeface="Tahoma"/>
              </a:defRPr>
            </a:pPr>
            <a:r>
              <a:t>سیستم مدیریت دکان قالین و وینیل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8208" y="6519672"/>
            <a:ext cx="77724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66766F"/>
                </a:solidFill>
                <a:latin typeface="Tahoma"/>
              </a:defRPr>
            </a:pPr>
            <a:r>
              <a:t>02  / 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900" b="1">
                <a:solidFill>
                  <a:srgbClr val="1F5948"/>
                </a:solidFill>
                <a:latin typeface="Tahoma"/>
              </a:defRPr>
            </a:pPr>
            <a:r>
              <a:t>02  /  فروش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48920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2500" b="1">
                <a:solidFill>
                  <a:srgbClr val="18352D"/>
                </a:solidFill>
                <a:latin typeface="Tahoma"/>
              </a:defRPr>
            </a:pPr>
            <a:r>
              <a:t>فروش را در یک بل به‌سادگی ثبت کنید.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27632"/>
            <a:ext cx="468172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200" b="0">
                <a:solidFill>
                  <a:srgbClr val="66766F"/>
                </a:solidFill>
                <a:latin typeface="Tahoma"/>
              </a:defRPr>
            </a:pPr>
            <a:r>
              <a:t>مشتری و جنس‌های انتخاب‌شده را وارد کنید و پرداخت را یک‌بار ثبت نمایید.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87168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496312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468880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یک یا چند رول اضافه کنید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798064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طول و نرخ هر جنس را جداگانه در همان بل بنویسید.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11296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520440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493008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مجموع بل را خودکار ببینید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822192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قیمت جنس‌ها، پرداخت و باقی‌داری در یک‌جا محاسبه می‌شود.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35424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544568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517136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موجودی را هم‌زمان به‌روز کنید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846320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طول فروخته‌شده از رول انتخاب‌شده کم می‌شود.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678424"/>
            <a:ext cx="4526280" cy="429768"/>
          </a:xfrm>
          <a:prstGeom prst="roundRect">
            <a:avLst>
              <a:gd name="adj" fmla="val 10000"/>
            </a:avLst>
          </a:prstGeom>
          <a:solidFill>
            <a:srgbClr val="1F5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15000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000" b="1">
                <a:solidFill>
                  <a:srgbClr val="FFFFFF"/>
                </a:solidFill>
                <a:latin typeface="Tahoma"/>
              </a:defRPr>
            </a:pPr>
            <a:r>
              <a:t>فروش منظم و سریع‌تر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005840"/>
            <a:ext cx="5916168" cy="4553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0" y="1143000"/>
            <a:ext cx="5586984" cy="4151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42262"/>
            <a:ext cx="5404104" cy="3752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97296" y="5669280"/>
            <a:ext cx="543153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0">
                <a:solidFill>
                  <a:srgbClr val="66766F"/>
                </a:solidFill>
                <a:latin typeface="Tahoma"/>
              </a:defRPr>
            </a:pPr>
            <a:r>
              <a:t>صفحهٔ فروش چندجنسه • یک مشتری و چند جنس در یک بل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47104"/>
            <a:ext cx="50292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66766F"/>
                </a:solidFill>
                <a:latin typeface="Tahoma"/>
              </a:defRPr>
            </a:pPr>
            <a:r>
              <a:t>سیستم مدیریت دکان قالین و وینیل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8208" y="6519672"/>
            <a:ext cx="77724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66766F"/>
                </a:solidFill>
                <a:latin typeface="Tahoma"/>
              </a:defRPr>
            </a:pPr>
            <a:r>
              <a:t>03  / 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900" b="1">
                <a:solidFill>
                  <a:srgbClr val="1F5948"/>
                </a:solidFill>
                <a:latin typeface="Tahoma"/>
              </a:defRPr>
            </a:pPr>
            <a:r>
              <a:t>03  /  حساب مشتریان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48920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2500" b="1">
                <a:solidFill>
                  <a:srgbClr val="18352D"/>
                </a:solidFill>
                <a:latin typeface="Tahoma"/>
              </a:defRPr>
            </a:pPr>
            <a:r>
              <a:t>حساب هر مشتری را روشن و منظم نگه دارید.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27632"/>
            <a:ext cx="468172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200" b="0">
                <a:solidFill>
                  <a:srgbClr val="66766F"/>
                </a:solidFill>
                <a:latin typeface="Tahoma"/>
              </a:defRPr>
            </a:pPr>
            <a:r>
              <a:t>خریدها، پرداخت‌ها و باقی‌داری مشتری را در یک سابقهٔ کامل ببینید.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87168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496312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468880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سابقهٔ حساب را یک‌جا ببینید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798064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خریدها و رسیدهای بعدی در صورت‌حساب مشتری نمایش داده می‌شود.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11296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520440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493008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پرداخت‌های بعدی را ثبت کنید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822192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با هر رسید، باقی‌داری حساب به‌روز می‌شود.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35424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544568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517136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بل و رسید آماده کنید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846320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بل، رسید و صورت‌حساب را PDF کنید؛ اندازهٔ چاپ آن A4 است.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678424"/>
            <a:ext cx="4526280" cy="429768"/>
          </a:xfrm>
          <a:prstGeom prst="roundRect">
            <a:avLst>
              <a:gd name="adj" fmla="val 10000"/>
            </a:avLst>
          </a:prstGeom>
          <a:solidFill>
            <a:srgbClr val="1F5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15000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000" b="1">
                <a:solidFill>
                  <a:srgbClr val="FFFFFF"/>
                </a:solidFill>
                <a:latin typeface="Tahoma"/>
              </a:defRPr>
            </a:pPr>
            <a:r>
              <a:t>حساب‌وکتاب روشن‌تر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005840"/>
            <a:ext cx="5916168" cy="4553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0" y="1143000"/>
            <a:ext cx="5586984" cy="4151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903" y="1234440"/>
            <a:ext cx="2796617" cy="39684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97296" y="5669280"/>
            <a:ext cx="543153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0">
                <a:solidFill>
                  <a:srgbClr val="66766F"/>
                </a:solidFill>
                <a:latin typeface="Tahoma"/>
              </a:defRPr>
            </a:pPr>
            <a:r>
              <a:t>صورت‌حساب مشتری • خریدها، رسیدها و باقی‌داری فعلی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47104"/>
            <a:ext cx="50292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66766F"/>
                </a:solidFill>
                <a:latin typeface="Tahoma"/>
              </a:defRPr>
            </a:pPr>
            <a:r>
              <a:t>سیستم مدیریت دکان قالین و وینیل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8208" y="6519672"/>
            <a:ext cx="77724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66766F"/>
                </a:solidFill>
                <a:latin typeface="Tahoma"/>
              </a:defRPr>
            </a:pPr>
            <a:r>
              <a:t>04  / 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900" b="1">
                <a:solidFill>
                  <a:srgbClr val="1F5948"/>
                </a:solidFill>
                <a:latin typeface="Tahoma"/>
              </a:defRPr>
            </a:pPr>
            <a:r>
              <a:t>04  /  تهیه‌کنندگان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48920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2500" b="1">
                <a:solidFill>
                  <a:srgbClr val="18352D"/>
                </a:solidFill>
                <a:latin typeface="Tahoma"/>
              </a:defRPr>
            </a:pPr>
            <a:r>
              <a:t>مصارف خرید و حساب تهیه‌کنندگان را یک‌جا ببینید.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27632"/>
            <a:ext cx="468172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200" b="0">
                <a:solidFill>
                  <a:srgbClr val="66766F"/>
                </a:solidFill>
                <a:latin typeface="Tahoma"/>
              </a:defRPr>
            </a:pPr>
            <a:r>
              <a:t>جنس‌های وارده را با حساب تهیه‌کننده و مصارف خرید پیوند دهید.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87168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496312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468880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مصارف خرید را ثبت کنید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798064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قیمت خرید فی متر و مصارف اضافی را هنگام ورود جنس بنویسید.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11296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520440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493008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حساب تهیه‌کننده را دنبال کنید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822192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پرداخت، پیش‌پرداخت، قرض و صورت‌حساب تهیه‌کننده را ثبت کنید.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35424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544568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517136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گزارش را با درنظرداشت مصرف بخوانید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846320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سود ناخالص از قیمت خرید ثبت‌شده حساب می‌شود؛ هزینهٔ نامعلوم مشخص می‌ماند.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678424"/>
            <a:ext cx="4526280" cy="429768"/>
          </a:xfrm>
          <a:prstGeom prst="roundRect">
            <a:avLst>
              <a:gd name="adj" fmla="val 10000"/>
            </a:avLst>
          </a:prstGeom>
          <a:solidFill>
            <a:srgbClr val="1F5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15000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000" b="1">
                <a:solidFill>
                  <a:srgbClr val="FFFFFF"/>
                </a:solidFill>
                <a:latin typeface="Tahoma"/>
              </a:defRPr>
            </a:pPr>
            <a:r>
              <a:t>آگاهی بهتر از مصارف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005840"/>
            <a:ext cx="5916168" cy="4553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0" y="1143000"/>
            <a:ext cx="5586984" cy="4151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upp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846" y="1234440"/>
            <a:ext cx="1458730" cy="39684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97296" y="5669280"/>
            <a:ext cx="543153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0">
                <a:solidFill>
                  <a:srgbClr val="66766F"/>
                </a:solidFill>
                <a:latin typeface="Tahoma"/>
              </a:defRPr>
            </a:pPr>
            <a:r>
              <a:t>حساب تهیه‌کننده • جزئیات و فعالیت در موبایل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47104"/>
            <a:ext cx="50292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66766F"/>
                </a:solidFill>
                <a:latin typeface="Tahoma"/>
              </a:defRPr>
            </a:pPr>
            <a:r>
              <a:t>سیستم مدیریت دکان قالین و وینیل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8208" y="6519672"/>
            <a:ext cx="77724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66766F"/>
                </a:solidFill>
                <a:latin typeface="Tahoma"/>
              </a:defRPr>
            </a:pPr>
            <a:r>
              <a:t>05  / 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029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900" b="1">
                <a:solidFill>
                  <a:srgbClr val="1F5948"/>
                </a:solidFill>
                <a:latin typeface="Tahoma"/>
              </a:defRPr>
            </a:pPr>
            <a:r>
              <a:t>05  /  کار روزمره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48920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2500" b="1">
                <a:solidFill>
                  <a:srgbClr val="18352D"/>
                </a:solidFill>
                <a:latin typeface="Tahoma"/>
              </a:defRPr>
            </a:pPr>
            <a:r>
              <a:t>برای کار روزمرهٔ یک دکان ساخته شده.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27632"/>
            <a:ext cx="468172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200" b="0">
                <a:solidFill>
                  <a:srgbClr val="66766F"/>
                </a:solidFill>
                <a:latin typeface="Tahoma"/>
              </a:defRPr>
            </a:pPr>
            <a:r>
              <a:t>ابزارهای ساده برای ثبت سفارش، مدیریت موجودی و حساب‌وکتاب دکان.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87168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496312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2468880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صفحه‌ها و اسناد به زبان دری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798064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رابط کاربری راست‌به‌چپ و اسناد چاپی به زبان دری هستند.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511296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520440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3493008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در کمپیوتر و موبایل کار می‌کند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3822192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صفحه‌ها برای انجام کارهای اصلی دکان در هر دو آماده‌اند.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35424"/>
            <a:ext cx="438912" cy="438912"/>
          </a:xfrm>
          <a:prstGeom prst="roundRect">
            <a:avLst>
              <a:gd name="adj" fmla="val 10000"/>
            </a:avLst>
          </a:prstGeom>
          <a:solidFill>
            <a:srgbClr val="DD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544568"/>
            <a:ext cx="43891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spcAft>
                <a:spcPts val="200"/>
              </a:spcAft>
              <a:defRPr sz="1000" b="1">
                <a:solidFill>
                  <a:srgbClr val="1F5948"/>
                </a:solidFill>
                <a:latin typeface="Tahom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517136"/>
            <a:ext cx="397763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300" b="1">
                <a:solidFill>
                  <a:srgbClr val="18352D"/>
                </a:solidFill>
                <a:latin typeface="Tahoma"/>
              </a:defRPr>
            </a:pPr>
            <a:r>
              <a:t>دسترسی بر اساس وظیفه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4846320"/>
            <a:ext cx="400507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66766F"/>
                </a:solidFill>
                <a:latin typeface="Tahoma"/>
              </a:defRPr>
            </a:pPr>
            <a:r>
              <a:t>نقش‌های مدیر سیستم، مدیر و کارمند دسترسی هر شخص را تنظیم می‌کنند.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678424"/>
            <a:ext cx="4526280" cy="429768"/>
          </a:xfrm>
          <a:prstGeom prst="roundRect">
            <a:avLst>
              <a:gd name="adj" fmla="val 10000"/>
            </a:avLst>
          </a:prstGeom>
          <a:solidFill>
            <a:srgbClr val="1F5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715000"/>
            <a:ext cx="40965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000" b="1">
                <a:solidFill>
                  <a:srgbClr val="FFFFFF"/>
                </a:solidFill>
                <a:latin typeface="Tahoma"/>
              </a:defRPr>
            </a:pPr>
            <a:r>
              <a:t>آمادهٔ استفادهٔ روزانه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005840"/>
            <a:ext cx="5916168" cy="4553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760720" y="1143000"/>
            <a:ext cx="5586984" cy="41513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234" y="1234440"/>
            <a:ext cx="2701954" cy="39684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97296" y="5669280"/>
            <a:ext cx="543153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0">
                <a:solidFill>
                  <a:srgbClr val="66766F"/>
                </a:solidFill>
                <a:latin typeface="Tahoma"/>
              </a:defRPr>
            </a:pPr>
            <a:r>
              <a:t>رسید چاپی • سند A4 برای شریک‌ساختن با مشتری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47104"/>
            <a:ext cx="50292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66766F"/>
                </a:solidFill>
                <a:latin typeface="Tahoma"/>
              </a:defRPr>
            </a:pPr>
            <a:r>
              <a:t>سیستم مدیریت دکان قالین و وینیل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8208" y="6519672"/>
            <a:ext cx="77724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66766F"/>
                </a:solidFill>
                <a:latin typeface="Tahoma"/>
              </a:defRPr>
            </a:pPr>
            <a:r>
              <a:t>06  / 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5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758952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100" b="1">
                <a:solidFill>
                  <a:srgbClr val="B7CCBE"/>
                </a:solidFill>
                <a:latin typeface="Tahoma"/>
              </a:defRPr>
            </a:pPr>
            <a:r>
              <a:t>یک گام عملی برای دکان شما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353312"/>
            <a:ext cx="548640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3100" b="1">
                <a:solidFill>
                  <a:srgbClr val="FFFFFF"/>
                </a:solidFill>
                <a:latin typeface="Tahoma"/>
              </a:defRPr>
            </a:pPr>
            <a:r>
              <a:t>کارهای دکان‌تان را منظم‌تر پیش ببرید.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999232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200"/>
              </a:spcAft>
              <a:defRPr sz="1700" b="0">
                <a:solidFill>
                  <a:srgbClr val="D7E6DC"/>
                </a:solidFill>
                <a:latin typeface="Tahoma"/>
              </a:defRPr>
            </a:pPr>
            <a:r>
              <a:t>موجودی، فروشات، حساب مشتریان و مصارف تهیه‌کنندگان را در یک جریان کاری مدیریت کنید.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06908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1F5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4160520"/>
            <a:ext cx="46634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400" b="1">
                <a:solidFill>
                  <a:srgbClr val="FFFFFF"/>
                </a:solidFill>
                <a:latin typeface="Tahoma"/>
              </a:defRPr>
            </a:pPr>
            <a:r>
              <a:t>بیایید کار روزمرهٔ دکان‌تان را باهم مرور کنیم.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020056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1000" b="0">
                <a:solidFill>
                  <a:srgbClr val="C1D1C7"/>
                </a:solidFill>
                <a:latin typeface="Tahoma"/>
              </a:defRPr>
            </a:pPr>
            <a:r>
              <a:t>نام شما  •  شماره تماس / واتس‌اپ  •  ایمیل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896112"/>
            <a:ext cx="5340096" cy="5193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02308"/>
            <a:ext cx="5157216" cy="3581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" y="6272784"/>
            <a:ext cx="347472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A8C1B1"/>
                </a:solidFill>
                <a:latin typeface="Tahoma"/>
              </a:defRPr>
            </a:pPr>
            <a:r>
              <a:t>معلومات تماس خود را این‌جا بنویسید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254496"/>
            <a:ext cx="68580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spcAft>
                <a:spcPts val="200"/>
              </a:spcAft>
              <a:defRPr sz="800" b="1">
                <a:solidFill>
                  <a:srgbClr val="A8C1B1"/>
                </a:solidFill>
                <a:latin typeface="Tahoma"/>
              </a:defRPr>
            </a:pPr>
            <a: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معرفی سیستم مدیریت دکان قالین و وینیل</dc:title>
  <dc:subject>Product overview, customer benefits and daily use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