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713232"/>
            <a:ext cx="100584" cy="502920"/>
          </a:xfrm>
          <a:prstGeom prst="roundRect">
            <a:avLst>
              <a:gd name="adj" fmla="val 10000"/>
            </a:avLst>
          </a:prstGeom>
          <a:solidFill>
            <a:srgbClr val="D9A8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7E6DC"/>
                </a:solidFill>
                <a:latin typeface="Aptos"/>
              </a:defRPr>
            </a:pPr>
            <a:r>
              <a:t>A CLEARER WAY TO RUN YOUR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435608"/>
            <a:ext cx="493776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3500" b="1">
                <a:solidFill>
                  <a:srgbClr val="FFFFFF"/>
                </a:solidFill>
                <a:latin typeface="Aptos"/>
              </a:defRPr>
            </a:pPr>
            <a:r>
              <a:t>Every roll.</a:t>
            </a:r>
          </a:p>
          <a:p>
            <a:pPr>
              <a:spcAft>
                <a:spcPts val="200"/>
              </a:spcAft>
              <a:defRPr sz="3500" b="1">
                <a:solidFill>
                  <a:srgbClr val="FFFFFF"/>
                </a:solidFill>
                <a:latin typeface="Aptos"/>
              </a:defRPr>
            </a:pPr>
            <a:r>
              <a:t>Every sale.</a:t>
            </a:r>
          </a:p>
          <a:p>
            <a:pPr>
              <a:spcAft>
                <a:spcPts val="200"/>
              </a:spcAft>
              <a:defRPr sz="3500" b="1">
                <a:solidFill>
                  <a:srgbClr val="FFFFFF"/>
                </a:solidFill>
                <a:latin typeface="Aptos"/>
              </a:defRPr>
            </a:pPr>
            <a:r>
              <a:t>All in one place.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4507992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DDE9DF"/>
                </a:solidFill>
                <a:latin typeface="Aptos"/>
              </a:defRPr>
            </a:pPr>
            <a:r>
              <a:t>Flooring &amp; Vinyl Store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02005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B7CCBE"/>
                </a:solidFill>
                <a:latin typeface="Aptos"/>
              </a:defRPr>
            </a:pPr>
            <a:r>
              <a:t>Stock • Sales • Customer accounts • Suppliers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584" y="1243584"/>
            <a:ext cx="5742432" cy="4160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61888" y="1353312"/>
            <a:ext cx="5449824" cy="394106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7" y="1495043"/>
            <a:ext cx="5266944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8" y="6254496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A8C1B1"/>
                </a:solidFill>
                <a:latin typeface="Aptos"/>
              </a:defRPr>
            </a:pPr>
            <a:r>
              <a:t>REAL APP SCREEN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254496"/>
            <a:ext cx="6858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800" b="1">
                <a:solidFill>
                  <a:srgbClr val="A8C1B1"/>
                </a:solidFill>
                <a:latin typeface="Aptos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F5948"/>
                </a:solidFill>
                <a:latin typeface="Aptos"/>
              </a:defRPr>
            </a:pPr>
            <a:r>
              <a:t>01  /  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32104"/>
            <a:ext cx="48920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2500" b="1">
                <a:solidFill>
                  <a:srgbClr val="18352D"/>
                </a:solidFill>
                <a:latin typeface="Aptos"/>
              </a:defRPr>
            </a:pPr>
            <a:r>
              <a:t>Know what is on the shelf.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468172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66766F"/>
                </a:solidFill>
                <a:latin typeface="Aptos"/>
              </a:defRPr>
            </a:pPr>
            <a:r>
              <a:t>Track the stock you actually sell: individual rolls and the meters left on each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87168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496312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468880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Receive stock in batches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798064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Add a full delivery together, including supplier, colors, sizes and costs.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11296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520440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493008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Keep every roll distinct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822192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Each roll gets its own record and remaining length—even when rolls differ.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35424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544568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517136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Find the next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846320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See available stock and low-stock items from the store dashboard.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678424"/>
            <a:ext cx="4526280" cy="429768"/>
          </a:xfrm>
          <a:prstGeom prst="roundRect">
            <a:avLst>
              <a:gd name="adj" fmla="val 10000"/>
            </a:avLst>
          </a:prstGeom>
          <a:solidFill>
            <a:srgbClr val="1F5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715000"/>
            <a:ext cx="4096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Fewer stock surprises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96128" y="1005840"/>
            <a:ext cx="5916168" cy="45537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143000"/>
            <a:ext cx="5586984" cy="41513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n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42262"/>
            <a:ext cx="5404104" cy="37528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97296" y="5669280"/>
            <a:ext cx="543153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0">
                <a:solidFill>
                  <a:srgbClr val="66766F"/>
                </a:solidFill>
                <a:latin typeface="Aptos"/>
              </a:defRPr>
            </a:pPr>
            <a:r>
              <a:t>Bulk delivery review • each roll is recorded separately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47104"/>
            <a:ext cx="502920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FLOORING &amp; VINYL STORE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8208" y="6519672"/>
            <a:ext cx="777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02  / 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F5948"/>
                </a:solidFill>
                <a:latin typeface="Aptos"/>
              </a:defRPr>
            </a:pPr>
            <a:r>
              <a:t>02  /  CHECKOUT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32104"/>
            <a:ext cx="48920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2500" b="1">
                <a:solidFill>
                  <a:srgbClr val="18352D"/>
                </a:solidFill>
                <a:latin typeface="Aptos"/>
              </a:defRPr>
            </a:pPr>
            <a:r>
              <a:t>Make a complete sale in one bill.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468172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66766F"/>
                </a:solidFill>
                <a:latin typeface="Aptos"/>
              </a:defRPr>
            </a:pPr>
            <a:r>
              <a:t>Build a bill around the customer and the rolls they choose, then record payment once.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87168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496312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468880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Add one or several rolls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798064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Set the length and price for each item on the same sale.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11296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520440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493008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Let the app total the bill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822192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The bill brings item amounts, payment and amount due together.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35424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544568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517136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Keep stock in sync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846320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Sold lengths are deducted from the selected rolls.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678424"/>
            <a:ext cx="4526280" cy="429768"/>
          </a:xfrm>
          <a:prstGeom prst="roundRect">
            <a:avLst>
              <a:gd name="adj" fmla="val 10000"/>
            </a:avLst>
          </a:prstGeom>
          <a:solidFill>
            <a:srgbClr val="1F5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715000"/>
            <a:ext cx="4096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A smoother checkout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96128" y="1005840"/>
            <a:ext cx="5916168" cy="45537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143000"/>
            <a:ext cx="5586984" cy="41513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42262"/>
            <a:ext cx="5404104" cy="37528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97296" y="5669280"/>
            <a:ext cx="543153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0">
                <a:solidFill>
                  <a:srgbClr val="66766F"/>
                </a:solidFill>
                <a:latin typeface="Aptos"/>
              </a:defRPr>
            </a:pPr>
            <a:r>
              <a:t>Multi-item sale screen • one customer, several items, one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47104"/>
            <a:ext cx="502920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FLOORING &amp; VINYL STORE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8208" y="6519672"/>
            <a:ext cx="777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03  / 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F5948"/>
                </a:solidFill>
                <a:latin typeface="Aptos"/>
              </a:defRPr>
            </a:pPr>
            <a:r>
              <a:t>03  /  CUSTOMER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32104"/>
            <a:ext cx="48920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2500" b="1">
                <a:solidFill>
                  <a:srgbClr val="18352D"/>
                </a:solidFill>
                <a:latin typeface="Aptos"/>
              </a:defRPr>
            </a:pPr>
            <a:r>
              <a:t>Make every balance easy to explain.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468172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66766F"/>
                </a:solidFill>
                <a:latin typeface="Aptos"/>
              </a:defRPr>
            </a:pPr>
            <a:r>
              <a:t>Give customers a useful record of what they bought, what they paid and what remains due.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87168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496312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468880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Open the full account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798064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See purchases and later payments together in a customer statement.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11296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520440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493008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Print or share a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822192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Create A4 invoices, receipts and statements as PDFs.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35424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544568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517136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Remember negotiated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846320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Review customer price history and suggest a previous rate.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678424"/>
            <a:ext cx="4526280" cy="429768"/>
          </a:xfrm>
          <a:prstGeom prst="roundRect">
            <a:avLst>
              <a:gd name="adj" fmla="val 10000"/>
            </a:avLst>
          </a:prstGeom>
          <a:solidFill>
            <a:srgbClr val="1F5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715000"/>
            <a:ext cx="4096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Clearer conversations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96128" y="1005840"/>
            <a:ext cx="5916168" cy="45537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143000"/>
            <a:ext cx="5586984" cy="41513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c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903" y="1234440"/>
            <a:ext cx="2796617" cy="3968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97296" y="5669280"/>
            <a:ext cx="543153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0">
                <a:solidFill>
                  <a:srgbClr val="66766F"/>
                </a:solidFill>
                <a:latin typeface="Aptos"/>
              </a:defRPr>
            </a:pPr>
            <a:r>
              <a:t>Customer statement • purchases, receipts and current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47104"/>
            <a:ext cx="502920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FLOORING &amp; VINYL STORE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8208" y="6519672"/>
            <a:ext cx="777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04  / 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F5948"/>
                </a:solidFill>
                <a:latin typeface="Aptos"/>
              </a:defRPr>
            </a:pPr>
            <a:r>
              <a:t>04  /  SUPPLIER COSTS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32104"/>
            <a:ext cx="48920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2500" b="1">
                <a:solidFill>
                  <a:srgbClr val="18352D"/>
                </a:solidFill>
                <a:latin typeface="Aptos"/>
              </a:defRPr>
            </a:pPr>
            <a:r>
              <a:t>See the money behind the stock.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468172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66766F"/>
                </a:solidFill>
                <a:latin typeface="Aptos"/>
              </a:defRPr>
            </a:pPr>
            <a:r>
              <a:t>Connect incoming goods with supplier accounts and the costs that shape your margin.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87168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496312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468880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Record purchase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798064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Capture per-meter cost and additional import costs as stock arrives.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11296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520440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493008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Follow supplier accounts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822192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Track payments, advances, loans and account statements.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35424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544568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517136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Read reports with cost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846320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Gross profit uses saved purchase costs; missing costs stay clearly marked.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678424"/>
            <a:ext cx="4526280" cy="429768"/>
          </a:xfrm>
          <a:prstGeom prst="roundRect">
            <a:avLst>
              <a:gd name="adj" fmla="val 10000"/>
            </a:avLst>
          </a:prstGeom>
          <a:solidFill>
            <a:srgbClr val="1F5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715000"/>
            <a:ext cx="4096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Better cost visibility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96128" y="1005840"/>
            <a:ext cx="5916168" cy="45537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143000"/>
            <a:ext cx="5586984" cy="41513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up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4846" y="1234440"/>
            <a:ext cx="1458730" cy="3968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97296" y="5669280"/>
            <a:ext cx="543153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0">
                <a:solidFill>
                  <a:srgbClr val="66766F"/>
                </a:solidFill>
                <a:latin typeface="Aptos"/>
              </a:defRPr>
            </a:pPr>
            <a:r>
              <a:t>Supplier workflow • account details and activity on mobile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47104"/>
            <a:ext cx="502920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FLOORING &amp; VINYL STORE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8208" y="6519672"/>
            <a:ext cx="777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05  / 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F5948"/>
                </a:solidFill>
                <a:latin typeface="Aptos"/>
              </a:defRPr>
            </a:pPr>
            <a:r>
              <a:t>05  /  EVERYDAY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32104"/>
            <a:ext cx="48920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2500" b="1">
                <a:solidFill>
                  <a:srgbClr val="18352D"/>
                </a:solidFill>
                <a:latin typeface="Aptos"/>
              </a:defRPr>
            </a:pPr>
            <a:r>
              <a:t>Built around a working shop.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468172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66766F"/>
                </a:solidFill>
                <a:latin typeface="Aptos"/>
              </a:defRPr>
            </a:pPr>
            <a:r>
              <a:t>Practical tools for the people taking orders, managing stock and keeping the 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87168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496312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468880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A Dari, right-to-left 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798064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The app’s screens and printed documents are designed for Dari workflows.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11296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520440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493008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Works on desktop and mobile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822192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Responsive screens keep core store tasks close at hand.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35424"/>
            <a:ext cx="438912" cy="438912"/>
          </a:xfrm>
          <a:prstGeom prst="roundRect">
            <a:avLst>
              <a:gd name="adj" fmla="val 10000"/>
            </a:avLst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544568"/>
            <a:ext cx="43891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1F594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517136"/>
            <a:ext cx="397763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352D"/>
                </a:solidFill>
                <a:latin typeface="Aptos"/>
              </a:defRPr>
            </a:pPr>
            <a:r>
              <a:t>Access by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846320"/>
            <a:ext cx="40050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766F"/>
                </a:solidFill>
                <a:latin typeface="Aptos"/>
              </a:defRPr>
            </a:pPr>
            <a:r>
              <a:t>Admin, manager and staff permissions help each person see the tools they need.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678424"/>
            <a:ext cx="4526280" cy="429768"/>
          </a:xfrm>
          <a:prstGeom prst="roundRect">
            <a:avLst>
              <a:gd name="adj" fmla="val 10000"/>
            </a:avLst>
          </a:prstGeom>
          <a:solidFill>
            <a:srgbClr val="1F5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715000"/>
            <a:ext cx="4096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Ready for daily 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96128" y="1005840"/>
            <a:ext cx="5916168" cy="45537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143000"/>
            <a:ext cx="5586984" cy="41513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ecei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234" y="1234440"/>
            <a:ext cx="2701954" cy="3968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97296" y="5669280"/>
            <a:ext cx="543153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0">
                <a:solidFill>
                  <a:srgbClr val="66766F"/>
                </a:solidFill>
                <a:latin typeface="Aptos"/>
              </a:defRPr>
            </a:pPr>
            <a:r>
              <a:t>Printable receipt • a consistent A4 document for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47104"/>
            <a:ext cx="502920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FLOORING &amp; VINYL STORE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8208" y="6519672"/>
            <a:ext cx="777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800" b="1">
                <a:solidFill>
                  <a:srgbClr val="66766F"/>
                </a:solidFill>
                <a:latin typeface="Aptos"/>
              </a:defRPr>
            </a:pPr>
            <a:r>
              <a:t>06  / 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758952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B7CCBE"/>
                </a:solidFill>
                <a:latin typeface="Aptos"/>
              </a:defRPr>
            </a:pPr>
            <a:r>
              <a:t>A PRACTICAL UPGRADE FOR YOUR 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353312"/>
            <a:ext cx="548640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Spend less time piecing records together.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2999232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  <a:defRPr sz="1700" b="0">
                <a:solidFill>
                  <a:srgbClr val="D7E6DC"/>
                </a:solidFill>
                <a:latin typeface="Aptos"/>
              </a:defRPr>
            </a:pPr>
            <a:r>
              <a:t>Bring stock, sales, customer balances and supplier costs into one daily workflow.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069080"/>
            <a:ext cx="5029200" cy="685800"/>
          </a:xfrm>
          <a:prstGeom prst="roundRect">
            <a:avLst>
              <a:gd name="adj" fmla="val 10000"/>
            </a:avLst>
          </a:prstGeom>
          <a:solidFill>
            <a:srgbClr val="1F5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4160520"/>
            <a:ext cx="46634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  <a:latin typeface="Aptos"/>
              </a:defRPr>
            </a:pPr>
            <a:r>
              <a:t>Let’s walk through your store’s workflow.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5020056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C1D1C7"/>
                </a:solidFill>
                <a:latin typeface="Aptos"/>
              </a:defRPr>
            </a:pPr>
            <a:r>
              <a:t>Your name  •  Phone / WhatsApp  • 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896112"/>
            <a:ext cx="5340096" cy="5193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02308"/>
            <a:ext cx="5157216" cy="3581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" y="6272784"/>
            <a:ext cx="347472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A8C1B1"/>
                </a:solidFill>
                <a:latin typeface="Aptos"/>
              </a:defRPr>
            </a:pPr>
            <a:r>
              <a:t>YOUR CONTACT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254496"/>
            <a:ext cx="6858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800" b="1">
                <a:solidFill>
                  <a:srgbClr val="A8C1B1"/>
                </a:solidFill>
                <a:latin typeface="Aptos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Flooring &amp; Vinyl Store Manager | Customer Sales Deck</dc:title>
  <dc:subject>Product overview, customer benefits and daily use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